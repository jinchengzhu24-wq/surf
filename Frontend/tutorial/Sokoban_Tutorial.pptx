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5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51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400" b="1">
                <a:solidFill>
                  <a:srgbClr val="243040"/>
                </a:solidFill>
                <a:latin typeface="Microsoft YaHei"/>
              </a:rPr>
              <a:t>Sokoban AI Demo 教程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5836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100" b="0">
                <a:solidFill>
                  <a:srgbClr val="5C626B"/>
                </a:solidFill>
                <a:latin typeface="Microsoft YaHei"/>
              </a:rPr>
              <a:t>多人共创推箱子挑战 | 中文引导版</a:t>
            </a:r>
          </a:p>
        </p:txBody>
      </p:sp>
      <p:pic>
        <p:nvPicPr>
          <p:cNvPr id="5" name="Picture 4" descr="c46b4e0c-aedf-5b46-a215-6922ee739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6583680" cy="371207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0" y="1097280"/>
            <a:ext cx="4297680" cy="2834640"/>
          </a:xfrm>
          <a:prstGeom prst="roundRect">
            <a:avLst/>
          </a:prstGeom>
          <a:solidFill>
            <a:srgbClr val="F8F8FA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88352" y="1170432"/>
            <a:ext cx="4151376" cy="365760"/>
          </a:xfrm>
          <a:prstGeom prst="roundRect">
            <a:avLst/>
          </a:prstGeom>
          <a:solidFill>
            <a:srgbClr val="2A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52360" y="118872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你将做什么？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61504" y="1609344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150" b="0">
                <a:solidFill>
                  <a:srgbClr val="323237"/>
                </a:solidFill>
                <a:latin typeface="Microsoft YaHei"/>
              </a:rPr>
              <a:t>• 与另一位玩家互相设计并游玩 Sokoban 关卡。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61504" y="192024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150" b="0">
                <a:solidFill>
                  <a:srgbClr val="323237"/>
                </a:solidFill>
                <a:latin typeface="Microsoft YaHei"/>
              </a:rPr>
              <a:t>• 先创建或加入房间，再进入共创地图阶段。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1504" y="2231136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150" b="0">
                <a:solidFill>
                  <a:srgbClr val="323237"/>
                </a:solidFill>
                <a:latin typeface="Microsoft YaHei"/>
              </a:rPr>
              <a:t>• 和 AI 一起修改、试玩、验证并确认最终关卡。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61504" y="2542032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150" b="0">
                <a:solidFill>
                  <a:srgbClr val="323237"/>
                </a:solidFill>
                <a:latin typeface="Microsoft YaHei"/>
              </a:rPr>
              <a:t>• </a:t>
            </a:r>
            <a:r>
              <a:rPr sz="1150" b="0" err="1">
                <a:solidFill>
                  <a:srgbClr val="323237"/>
                </a:solidFill>
                <a:latin typeface="Microsoft YaHei"/>
              </a:rPr>
              <a:t>最后游玩对手的关卡，并完成结果记录</a:t>
            </a:r>
            <a:r>
              <a:rPr sz="1150" b="0">
                <a:solidFill>
                  <a:srgbClr val="323237"/>
                </a:solidFill>
                <a:latin typeface="Microsoft YaHei"/>
              </a:rPr>
              <a:t>。</a:t>
            </a:r>
          </a:p>
        </p:txBody>
      </p:sp>
      <p:pic>
        <p:nvPicPr>
          <p:cNvPr id="13" name="Picture 12" descr="f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3780" y="3970616"/>
            <a:ext cx="731520" cy="896702"/>
          </a:xfrm>
          <a:prstGeom prst="rect">
            <a:avLst/>
          </a:prstGeom>
        </p:spPr>
      </p:pic>
      <p:pic>
        <p:nvPicPr>
          <p:cNvPr id="14" name="Picture 13" descr="fr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5330" y="4361688"/>
            <a:ext cx="731520" cy="534256"/>
          </a:xfrm>
          <a:prstGeom prst="rect">
            <a:avLst/>
          </a:prstGeom>
        </p:spPr>
      </p:pic>
      <p:pic>
        <p:nvPicPr>
          <p:cNvPr id="15" name="Picture 14" descr="bo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9767" y="4109030"/>
            <a:ext cx="731520" cy="7924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69480" y="5029200"/>
            <a:ext cx="4480560" cy="656590"/>
          </a:xfrm>
          <a:prstGeom prst="rect">
            <a:avLst/>
          </a:prstGeom>
          <a:solidFill>
            <a:srgbClr val="FFFBE6"/>
          </a:solidFill>
          <a:ln>
            <a:solidFill>
              <a:srgbClr val="E8CE78"/>
            </a:solidFill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200" b="0" err="1">
                <a:solidFill>
                  <a:srgbClr val="222222"/>
                </a:solidFill>
                <a:latin typeface="Microsoft YaHei"/>
              </a:rPr>
              <a:t>关键词</a:t>
            </a:r>
            <a:r>
              <a:rPr sz="1200" b="0">
                <a:solidFill>
                  <a:srgbClr val="222222"/>
                </a:solidFill>
                <a:latin typeface="Microsoft YaHei"/>
              </a:rPr>
              <a:t>：
</a:t>
            </a:r>
            <a:r>
              <a:rPr sz="1200" b="0" err="1">
                <a:solidFill>
                  <a:srgbClr val="222222"/>
                </a:solidFill>
                <a:latin typeface="Microsoft YaHei"/>
              </a:rPr>
              <a:t>狐狸</a:t>
            </a:r>
            <a:r>
              <a:rPr sz="1200" b="0">
                <a:solidFill>
                  <a:srgbClr val="222222"/>
                </a:solidFill>
                <a:latin typeface="Microsoft YaHei"/>
              </a:rPr>
              <a:t> = </a:t>
            </a:r>
            <a:r>
              <a:rPr sz="1200" b="0" err="1">
                <a:solidFill>
                  <a:srgbClr val="222222"/>
                </a:solidFill>
                <a:latin typeface="Microsoft YaHei"/>
              </a:rPr>
              <a:t>试玩自己的关卡</a:t>
            </a:r>
            <a:r>
              <a:rPr sz="1200" b="0">
                <a:solidFill>
                  <a:srgbClr val="222222"/>
                </a:solidFill>
                <a:latin typeface="Microsoft YaHei"/>
              </a:rPr>
              <a:t>    </a:t>
            </a:r>
            <a:r>
              <a:rPr sz="1200" b="0" err="1">
                <a:solidFill>
                  <a:srgbClr val="222222"/>
                </a:solidFill>
                <a:latin typeface="Microsoft YaHei"/>
              </a:rPr>
              <a:t>青蛙</a:t>
            </a:r>
            <a:r>
              <a:rPr sz="1200" b="0">
                <a:solidFill>
                  <a:srgbClr val="222222"/>
                </a:solidFill>
                <a:latin typeface="Microsoft YaHei"/>
              </a:rPr>
              <a:t> = </a:t>
            </a:r>
            <a:r>
              <a:rPr sz="1200" b="0" err="1">
                <a:solidFill>
                  <a:srgbClr val="222222"/>
                </a:solidFill>
                <a:latin typeface="Microsoft YaHei"/>
              </a:rPr>
              <a:t>游玩对手的关卡</a:t>
            </a:r>
            <a:r>
              <a:rPr sz="1200" b="0">
                <a:solidFill>
                  <a:srgbClr val="222222"/>
                </a:solidFill>
                <a:latin typeface="Microsoft YaHei"/>
              </a:rPr>
              <a:t>    </a:t>
            </a:r>
            <a:endParaRPr lang="en-US" sz="1200" b="0">
              <a:solidFill>
                <a:srgbClr val="222222"/>
              </a:solidFill>
              <a:latin typeface="Microsoft YaHei"/>
            </a:endParaRPr>
          </a:p>
          <a:p>
            <a:pPr algn="l"/>
            <a:r>
              <a:rPr sz="1200" b="0" err="1">
                <a:solidFill>
                  <a:srgbClr val="222222"/>
                </a:solidFill>
                <a:latin typeface="Microsoft YaHei"/>
              </a:rPr>
              <a:t>箱子</a:t>
            </a:r>
            <a:r>
              <a:rPr sz="1200" b="0">
                <a:solidFill>
                  <a:srgbClr val="222222"/>
                </a:solidFill>
                <a:latin typeface="Microsoft YaHei"/>
              </a:rPr>
              <a:t> = </a:t>
            </a:r>
            <a:r>
              <a:rPr sz="1200" b="0" err="1">
                <a:solidFill>
                  <a:srgbClr val="222222"/>
                </a:solidFill>
                <a:latin typeface="Microsoft YaHei"/>
              </a:rPr>
              <a:t>推到目标点</a:t>
            </a:r>
            <a:endParaRPr sz="1200" b="0">
              <a:solidFill>
                <a:srgbClr val="222222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400" b="1">
                <a:solidFill>
                  <a:srgbClr val="243040"/>
                </a:solidFill>
                <a:latin typeface="Microsoft YaHei"/>
              </a:rPr>
              <a:t>1. 基础规则与操作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5836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100" b="0">
                <a:solidFill>
                  <a:srgbClr val="5C626B"/>
                </a:solidFill>
                <a:latin typeface="Microsoft YaHei"/>
              </a:rPr>
              <a:t>先认识角色、按键和时间限制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51560"/>
            <a:ext cx="3703320" cy="4389120"/>
          </a:xfrm>
          <a:prstGeom prst="roundRect">
            <a:avLst/>
          </a:prstGeom>
          <a:solidFill>
            <a:srgbClr val="FAFAFC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76072" y="1124712"/>
            <a:ext cx="3557016" cy="365760"/>
          </a:xfrm>
          <a:prstGeom prst="roundRect">
            <a:avLst/>
          </a:prstGeom>
          <a:solidFill>
            <a:srgbClr val="24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角色与操作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1563624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150" b="0">
                <a:solidFill>
                  <a:srgbClr val="323237"/>
                </a:solidFill>
                <a:latin typeface="Microsoft YaHei"/>
              </a:rPr>
              <a:t>• 狐狸：试玩自己设计的关卡。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874520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150" b="0">
                <a:solidFill>
                  <a:srgbClr val="323237"/>
                </a:solidFill>
                <a:latin typeface="Microsoft YaHei"/>
              </a:rPr>
              <a:t>• 操作：W / A / S / D 移动，R 重新开始。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2185416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150" b="0">
                <a:solidFill>
                  <a:srgbClr val="323237"/>
                </a:solidFill>
                <a:latin typeface="Microsoft YaHei"/>
              </a:rPr>
              <a:t>• 青蛙：游玩对手设计的关卡。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2496312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150" b="0">
                <a:solidFill>
                  <a:srgbClr val="323237"/>
                </a:solidFill>
                <a:latin typeface="Microsoft YaHei"/>
              </a:rPr>
              <a:t>• 操作：方向键 ↑ ↓ ← → 移动，R 重新开始。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2807208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150" b="0">
                <a:solidFill>
                  <a:srgbClr val="323237"/>
                </a:solidFill>
                <a:latin typeface="Microsoft YaHei"/>
              </a:rPr>
              <a:t>• 核心目标：把箱子推到目标点。</a:t>
            </a:r>
          </a:p>
        </p:txBody>
      </p:sp>
      <p:pic>
        <p:nvPicPr>
          <p:cNvPr id="13" name="Picture 12" descr="f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3193"/>
            <a:ext cx="1097280" cy="1345053"/>
          </a:xfrm>
          <a:prstGeom prst="rect">
            <a:avLst/>
          </a:prstGeom>
        </p:spPr>
      </p:pic>
      <p:pic>
        <p:nvPicPr>
          <p:cNvPr id="14" name="Picture 13" descr="fr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608060"/>
            <a:ext cx="1097280" cy="801384"/>
          </a:xfrm>
          <a:prstGeom prst="rect">
            <a:avLst/>
          </a:prstGeom>
        </p:spPr>
      </p:pic>
      <p:pic>
        <p:nvPicPr>
          <p:cNvPr id="15" name="Picture 14" descr="bo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1100" y="1259205"/>
            <a:ext cx="1051560" cy="113919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434840" y="251460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1700" b="1">
                <a:solidFill>
                  <a:srgbClr val="373737"/>
                </a:solidFill>
                <a:latin typeface="Microsoft YaHei"/>
              </a:rPr>
              <a:t>狐狸
WASD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51460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1700" b="1">
                <a:solidFill>
                  <a:srgbClr val="373737"/>
                </a:solidFill>
                <a:latin typeface="Microsoft YaHei"/>
              </a:rPr>
              <a:t>青蛙
方向键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51460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1700" b="1">
                <a:solidFill>
                  <a:srgbClr val="373737"/>
                </a:solidFill>
                <a:latin typeface="Microsoft YaHei"/>
              </a:rPr>
              <a:t>箱子
推到目标点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3840480"/>
            <a:ext cx="2834640" cy="914400"/>
          </a:xfrm>
          <a:prstGeom prst="roundRect">
            <a:avLst/>
          </a:prstGeom>
          <a:solidFill>
            <a:srgbClr val="E5F3FF"/>
          </a:solidFill>
          <a:ln>
            <a:solidFill>
              <a:srgbClr val="78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4C4222"/>
                </a:solidFill>
                <a:latin typeface="Microsoft YaHei"/>
              </a:rPr>
              <a:t>共创阶段限时 10 分钟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3840480"/>
            <a:ext cx="2834640" cy="914400"/>
          </a:xfrm>
          <a:prstGeom prst="roundRect">
            <a:avLst/>
          </a:prstGeom>
          <a:solidFill>
            <a:srgbClr val="FFECE4"/>
          </a:solidFill>
          <a:ln>
            <a:solidFill>
              <a:srgbClr val="E89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4C4222"/>
                </a:solidFill>
                <a:latin typeface="Microsoft YaHei"/>
              </a:rPr>
              <a:t>游玩对手关卡限时 30 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400" b="1">
                <a:solidFill>
                  <a:srgbClr val="243040"/>
                </a:solidFill>
                <a:latin typeface="Microsoft YaHei"/>
              </a:rPr>
              <a:t>2. 从主菜单开始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5836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100" b="0">
                <a:solidFill>
                  <a:srgbClr val="5C626B"/>
                </a:solidFill>
                <a:latin typeface="Microsoft YaHei"/>
              </a:rPr>
              <a:t>阅读说明后，进入匹配流程</a:t>
            </a:r>
          </a:p>
        </p:txBody>
      </p:sp>
      <p:pic>
        <p:nvPicPr>
          <p:cNvPr id="5" name="Picture 4" descr="c46b4e0c-aedf-5b46-a215-6922ee739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6400800" cy="360896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0" y="1143000"/>
            <a:ext cx="4297680" cy="4206240"/>
          </a:xfrm>
          <a:prstGeom prst="roundRect">
            <a:avLst/>
          </a:prstGeom>
          <a:solidFill>
            <a:srgbClr val="F8F8FA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88352" y="1216152"/>
            <a:ext cx="4151376" cy="365760"/>
          </a:xfrm>
          <a:prstGeom prst="roundRect">
            <a:avLst/>
          </a:prstGeom>
          <a:solidFill>
            <a:srgbClr val="ED7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52360" y="123444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主菜单说明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61504" y="1655064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150" b="0">
                <a:solidFill>
                  <a:srgbClr val="323237"/>
                </a:solidFill>
                <a:latin typeface="Microsoft YaHei"/>
              </a:rPr>
              <a:t>• </a:t>
            </a:r>
            <a:r>
              <a:rPr sz="1150" b="0" err="1">
                <a:solidFill>
                  <a:srgbClr val="323237"/>
                </a:solidFill>
                <a:latin typeface="Microsoft YaHei"/>
              </a:rPr>
              <a:t>Tutorial：查看本教程</a:t>
            </a:r>
            <a:r>
              <a:rPr sz="1150" b="0">
                <a:solidFill>
                  <a:srgbClr val="323237"/>
                </a:solidFill>
                <a:latin typeface="Microsoft YaHei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61504" y="196596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150" b="0">
                <a:solidFill>
                  <a:srgbClr val="323237"/>
                </a:solidFill>
                <a:latin typeface="Microsoft YaHei"/>
              </a:rPr>
              <a:t>• Server：连接服务器。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1504" y="2276856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150" b="0">
                <a:solidFill>
                  <a:srgbClr val="323237"/>
                </a:solidFill>
                <a:latin typeface="Microsoft YaHei"/>
              </a:rPr>
              <a:t>• Matchmaking：进入匹配大厅。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61504" y="2587752"/>
            <a:ext cx="4023360" cy="279564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150" b="0">
                <a:solidFill>
                  <a:srgbClr val="323237"/>
                </a:solidFill>
                <a:latin typeface="Microsoft YaHei"/>
              </a:rPr>
              <a:t>• </a:t>
            </a:r>
            <a:r>
              <a:rPr sz="1150" b="0" err="1">
                <a:solidFill>
                  <a:srgbClr val="323237"/>
                </a:solidFill>
                <a:latin typeface="Microsoft YaHei"/>
              </a:rPr>
              <a:t>Try：可</a:t>
            </a:r>
            <a:r>
              <a:rPr lang="zh-CN" altLang="en-US" sz="1150" b="0">
                <a:solidFill>
                  <a:srgbClr val="3232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进入本地试玩</a:t>
            </a:r>
            <a:r>
              <a:rPr sz="1150" b="0">
                <a:solidFill>
                  <a:srgbClr val="323237"/>
                </a:solidFill>
                <a:latin typeface="Microsoft YaHei"/>
              </a:rPr>
              <a:t>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61504" y="2898648"/>
            <a:ext cx="4023360" cy="456535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150" b="0">
                <a:solidFill>
                  <a:srgbClr val="323237"/>
                </a:solidFill>
                <a:latin typeface="Microsoft YaHei"/>
              </a:rPr>
              <a:t>• </a:t>
            </a:r>
            <a:r>
              <a:rPr sz="1150" b="0" err="1">
                <a:solidFill>
                  <a:srgbClr val="323237"/>
                </a:solidFill>
                <a:latin typeface="Microsoft YaHei"/>
              </a:rPr>
              <a:t>底部说明：系统会收集关卡完成数据，但不采集个人隐私</a:t>
            </a:r>
            <a:r>
              <a:rPr sz="1150" b="0">
                <a:solidFill>
                  <a:srgbClr val="323237"/>
                </a:solidFill>
                <a:latin typeface="Microsoft YaHei"/>
              </a:rPr>
              <a:t>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54480" y="5120640"/>
            <a:ext cx="1828800" cy="502920"/>
          </a:xfrm>
          <a:prstGeom prst="roundRect">
            <a:avLst/>
          </a:prstGeom>
          <a:solidFill>
            <a:srgbClr val="EEFAEF"/>
          </a:solidFill>
          <a:ln>
            <a:solidFill>
              <a:srgbClr val="73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4C4222"/>
                </a:solidFill>
                <a:latin typeface="Microsoft YaHei"/>
              </a:rPr>
              <a:t>教程按钮</a:t>
            </a:r>
          </a:p>
        </p:txBody>
      </p:sp>
      <p:cxnSp>
        <p:nvCxnSpPr>
          <p:cNvPr id="15" name="Connector 14"/>
          <p:cNvCxnSpPr>
            <a:cxnSpLocks/>
            <a:stCxn id="14" idx="0"/>
          </p:cNvCxnSpPr>
          <p:nvPr/>
        </p:nvCxnSpPr>
        <p:spPr>
          <a:xfrm flipH="1" flipV="1">
            <a:off x="1981200" y="3902765"/>
            <a:ext cx="487680" cy="1217875"/>
          </a:xfrm>
          <a:prstGeom prst="line">
            <a:avLst/>
          </a:prstGeom>
          <a:ln w="38100">
            <a:solidFill>
              <a:srgbClr val="60A0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434840" y="4736592"/>
            <a:ext cx="2011680" cy="502920"/>
          </a:xfrm>
          <a:prstGeom prst="roundRect">
            <a:avLst/>
          </a:prstGeom>
          <a:solidFill>
            <a:srgbClr val="FFF3DC"/>
          </a:solidFill>
          <a:ln>
            <a:solidFill>
              <a:srgbClr val="E8A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4C4222"/>
                </a:solidFill>
                <a:latin typeface="Microsoft YaHei"/>
              </a:rPr>
              <a:t>匹配入口</a:t>
            </a:r>
          </a:p>
        </p:txBody>
      </p:sp>
      <p:cxnSp>
        <p:nvCxnSpPr>
          <p:cNvPr id="17" name="Connector 16"/>
          <p:cNvCxnSpPr>
            <a:cxnSpLocks/>
            <a:endCxn id="16" idx="0"/>
          </p:cNvCxnSpPr>
          <p:nvPr/>
        </p:nvCxnSpPr>
        <p:spPr>
          <a:xfrm>
            <a:off x="4187687" y="2987170"/>
            <a:ext cx="1252993" cy="1749422"/>
          </a:xfrm>
          <a:prstGeom prst="line">
            <a:avLst/>
          </a:prstGeom>
          <a:ln w="38100">
            <a:solidFill>
              <a:srgbClr val="E88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400" b="1">
                <a:solidFill>
                  <a:srgbClr val="243040"/>
                </a:solidFill>
                <a:latin typeface="Microsoft YaHei"/>
              </a:rPr>
              <a:t>3. 匹配大厅：先创建房间码，再加入房间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5836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100" b="0">
                <a:solidFill>
                  <a:srgbClr val="5C626B"/>
                </a:solidFill>
                <a:latin typeface="Microsoft YaHei"/>
              </a:rPr>
              <a:t>一名玩家创建房间，另一名玩家使用房间码加入</a:t>
            </a:r>
          </a:p>
        </p:txBody>
      </p:sp>
      <p:pic>
        <p:nvPicPr>
          <p:cNvPr id="5" name="Picture 4" descr="lobby_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4754880" cy="3396343"/>
          </a:xfrm>
          <a:prstGeom prst="rect">
            <a:avLst/>
          </a:prstGeom>
        </p:spPr>
      </p:pic>
      <p:pic>
        <p:nvPicPr>
          <p:cNvPr id="6" name="Picture 5" descr="lobby_jo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234440"/>
            <a:ext cx="4754880" cy="335942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371600" y="4572000"/>
            <a:ext cx="3108960" cy="731520"/>
          </a:xfrm>
          <a:prstGeom prst="roundRect">
            <a:avLst/>
          </a:prstGeom>
          <a:solidFill>
            <a:srgbClr val="FFF1E7"/>
          </a:solidFill>
          <a:ln>
            <a:solidFill>
              <a:srgbClr val="E493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4C4222"/>
                </a:solidFill>
                <a:latin typeface="Microsoft YaHei"/>
              </a:rPr>
              <a:t>步骤 1：点击 CREATE ROOM
生成房间码并分享给对手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4572000"/>
            <a:ext cx="3063240" cy="731520"/>
          </a:xfrm>
          <a:prstGeom prst="roundRect">
            <a:avLst/>
          </a:prstGeom>
          <a:solidFill>
            <a:srgbClr val="E8F7F7"/>
          </a:solidFill>
          <a:ln>
            <a:solidFill>
              <a:srgbClr val="6AAB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4C4222"/>
                </a:solidFill>
                <a:latin typeface="Microsoft YaHei"/>
              </a:rPr>
              <a:t>步骤 2：输入 6 位房间码
点击 JOIN ROOM 进入房间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10789920" cy="548640"/>
          </a:xfrm>
          <a:prstGeom prst="rect">
            <a:avLst/>
          </a:prstGeom>
          <a:solidFill>
            <a:srgbClr val="F8F8FC"/>
          </a:solidFill>
          <a:ln>
            <a:solidFill>
              <a:srgbClr val="DCDCE1"/>
            </a:solidFill>
          </a:ln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Microsoft YaHei"/>
              </a:rPr>
              <a:t>注意：你们两位玩家需要进入同一个房间，随后才能开始后续共创与交换关卡。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02B63B0D-7331-E5B1-E8A2-8FD7094F0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81117"/>
            <a:ext cx="10972800" cy="548310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400" b="1">
                <a:solidFill>
                  <a:srgbClr val="243040"/>
                </a:solidFill>
                <a:latin typeface="Microsoft YaHei"/>
              </a:rPr>
              <a:t>4. 共创阶段总览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5836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100" b="0">
                <a:solidFill>
                  <a:srgbClr val="5C626B"/>
                </a:solidFill>
                <a:latin typeface="Microsoft YaHei"/>
              </a:rPr>
              <a:t>与 AI 讨论并持续完善当前 Stage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486400"/>
            <a:ext cx="2286000" cy="640080"/>
          </a:xfrm>
          <a:prstGeom prst="roundRect">
            <a:avLst/>
          </a:prstGeom>
          <a:solidFill>
            <a:srgbClr val="FFFAD6"/>
          </a:solidFill>
          <a:ln>
            <a:solidFill>
              <a:srgbClr val="D6B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4C4222"/>
                </a:solidFill>
                <a:latin typeface="Microsoft YaHei"/>
              </a:rPr>
              <a:t>左侧：Stage 历史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9080" y="5486400"/>
            <a:ext cx="2743200" cy="640080"/>
          </a:xfrm>
          <a:prstGeom prst="roundRect">
            <a:avLst/>
          </a:prstGeom>
          <a:solidFill>
            <a:srgbClr val="FFFAD6"/>
          </a:solidFill>
          <a:ln>
            <a:solidFill>
              <a:srgbClr val="D6B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4C4222"/>
                </a:solidFill>
                <a:latin typeface="Microsoft YaHei"/>
              </a:rPr>
              <a:t>中间：共创对话区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58200" y="5486400"/>
            <a:ext cx="2743200" cy="640080"/>
          </a:xfrm>
          <a:prstGeom prst="roundRect">
            <a:avLst/>
          </a:prstGeom>
          <a:solidFill>
            <a:srgbClr val="FFFAD6"/>
          </a:solidFill>
          <a:ln>
            <a:solidFill>
              <a:srgbClr val="D6B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4C4222"/>
                </a:solidFill>
                <a:latin typeface="Microsoft YaHei"/>
              </a:rPr>
              <a:t>右侧：地图编辑与验证</a:t>
            </a:r>
          </a:p>
        </p:txBody>
      </p:sp>
      <p:cxnSp>
        <p:nvCxnSpPr>
          <p:cNvPr id="9" name="Connector 8"/>
          <p:cNvCxnSpPr>
            <a:cxnSpLocks/>
          </p:cNvCxnSpPr>
          <p:nvPr/>
        </p:nvCxnSpPr>
        <p:spPr>
          <a:xfrm flipV="1">
            <a:off x="1828800" y="3525078"/>
            <a:ext cx="0" cy="1915602"/>
          </a:xfrm>
          <a:prstGeom prst="line">
            <a:avLst/>
          </a:prstGeom>
          <a:ln w="38100">
            <a:solidFill>
              <a:srgbClr val="DC52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>
            <a:cxnSpLocks/>
          </p:cNvCxnSpPr>
          <p:nvPr/>
        </p:nvCxnSpPr>
        <p:spPr>
          <a:xfrm flipH="1" flipV="1">
            <a:off x="4678017" y="3525078"/>
            <a:ext cx="671223" cy="1915602"/>
          </a:xfrm>
          <a:prstGeom prst="line">
            <a:avLst/>
          </a:prstGeom>
          <a:ln w="38100">
            <a:solidFill>
              <a:srgbClr val="DC52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cxnSpLocks/>
          </p:cNvCxnSpPr>
          <p:nvPr/>
        </p:nvCxnSpPr>
        <p:spPr>
          <a:xfrm flipH="1" flipV="1">
            <a:off x="8905461" y="4041913"/>
            <a:ext cx="1061499" cy="1398767"/>
          </a:xfrm>
          <a:prstGeom prst="line">
            <a:avLst/>
          </a:prstGeom>
          <a:ln w="38100">
            <a:solidFill>
              <a:srgbClr val="DC52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400" b="1">
                <a:solidFill>
                  <a:srgbClr val="243040"/>
                </a:solidFill>
                <a:latin typeface="Microsoft YaHei"/>
              </a:rPr>
              <a:t>5. 共创界面怎么用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5836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100" b="0">
                <a:solidFill>
                  <a:srgbClr val="5C626B"/>
                </a:solidFill>
                <a:latin typeface="Microsoft YaHei"/>
              </a:rPr>
              <a:t>看懂三个核心区域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" y="4572000"/>
            <a:ext cx="2011680" cy="1417320"/>
          </a:xfrm>
          <a:prstGeom prst="roundRect">
            <a:avLst/>
          </a:prstGeom>
          <a:solidFill>
            <a:srgbClr val="F6F7FA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20624" y="4645152"/>
            <a:ext cx="1865376" cy="365760"/>
          </a:xfrm>
          <a:prstGeom prst="roundRect">
            <a:avLst/>
          </a:prstGeom>
          <a:solidFill>
            <a:srgbClr val="6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4632" y="466344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Stage 历史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" y="5084064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150" b="0">
                <a:solidFill>
                  <a:srgbClr val="323237"/>
                </a:solidFill>
                <a:latin typeface="Microsoft YaHei"/>
              </a:rPr>
              <a:t>• 查看版本。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" y="539496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150" b="0">
                <a:solidFill>
                  <a:srgbClr val="323237"/>
                </a:solidFill>
                <a:latin typeface="Microsoft YaHei"/>
              </a:rPr>
              <a:t>• 回看当前 Stage。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42032" y="4572000"/>
            <a:ext cx="4754880" cy="1600200"/>
          </a:xfrm>
          <a:prstGeom prst="roundRect">
            <a:avLst/>
          </a:prstGeom>
          <a:solidFill>
            <a:srgbClr val="F6F7FA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615184" y="4645152"/>
            <a:ext cx="4608576" cy="365760"/>
          </a:xfrm>
          <a:prstGeom prst="roundRect">
            <a:avLst/>
          </a:prstGeom>
          <a:solidFill>
            <a:srgbClr val="2A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79192" y="4663440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共创对话区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88336" y="5084064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150" b="0">
                <a:solidFill>
                  <a:srgbClr val="323237"/>
                </a:solidFill>
                <a:latin typeface="Microsoft YaHei"/>
              </a:rPr>
              <a:t>• </a:t>
            </a:r>
            <a:r>
              <a:rPr sz="1150" b="0" err="1">
                <a:solidFill>
                  <a:srgbClr val="323237"/>
                </a:solidFill>
                <a:latin typeface="Microsoft YaHei"/>
              </a:rPr>
              <a:t>描述想法、表达不满意之处</a:t>
            </a:r>
            <a:r>
              <a:rPr sz="1150" b="0">
                <a:solidFill>
                  <a:srgbClr val="323237"/>
                </a:solidFill>
                <a:latin typeface="Microsoft YaHei"/>
              </a:rPr>
              <a:t>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4962" y="5394960"/>
            <a:ext cx="4782312" cy="279564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r>
              <a:rPr sz="1150" b="0">
                <a:solidFill>
                  <a:srgbClr val="323237"/>
                </a:solidFill>
                <a:latin typeface="Microsoft YaHei"/>
              </a:rPr>
              <a:t>• 让 </a:t>
            </a:r>
            <a:r>
              <a:rPr sz="1150" b="0">
                <a:solidFill>
                  <a:srgbClr val="3232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 </a:t>
            </a:r>
            <a:r>
              <a:rPr sz="1150" b="0" err="1">
                <a:solidFill>
                  <a:srgbClr val="3232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帮你分析、建议、继续修改</a:t>
            </a:r>
            <a:r>
              <a:rPr lang="en-US" sz="1150" b="0">
                <a:solidFill>
                  <a:srgbClr val="3232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150" b="0">
                <a:solidFill>
                  <a:srgbClr val="3232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150" b="0">
                <a:solidFill>
                  <a:srgbClr val="3232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的修改能力比较差</a:t>
            </a:r>
            <a:r>
              <a:rPr lang="en-US" altLang="zh-CN" sz="1150" b="0">
                <a:solidFill>
                  <a:srgbClr val="3232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150" b="0">
                <a:solidFill>
                  <a:srgbClr val="3232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建议手动修改</a:t>
            </a:r>
            <a:r>
              <a:rPr lang="en-US" altLang="zh-CN" sz="1150" b="0">
                <a:solidFill>
                  <a:srgbClr val="323237"/>
                </a:solidFill>
                <a:latin typeface="Microsoft YaHei"/>
              </a:rPr>
              <a:t>)</a:t>
            </a:r>
            <a:r>
              <a:rPr lang="zh-CN" altLang="en-US" sz="1150">
                <a:solidFill>
                  <a:srgbClr val="323237"/>
                </a:solidFill>
                <a:latin typeface="Microsoft YaHei"/>
              </a:rPr>
              <a:t> 。</a:t>
            </a:r>
            <a:endParaRPr sz="1150" b="0">
              <a:solidFill>
                <a:srgbClr val="323237"/>
              </a:solidFill>
              <a:latin typeface="Microsoft YaHe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452360" y="4572000"/>
            <a:ext cx="4297680" cy="1600200"/>
          </a:xfrm>
          <a:prstGeom prst="roundRect">
            <a:avLst/>
          </a:prstGeom>
          <a:solidFill>
            <a:srgbClr val="F6F7FA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525512" y="4645152"/>
            <a:ext cx="4151376" cy="365760"/>
          </a:xfrm>
          <a:prstGeom prst="roundRect">
            <a:avLst/>
          </a:prstGeom>
          <a:solidFill>
            <a:srgbClr val="548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0" y="466344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地图编辑区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98664" y="5084064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150" b="0">
                <a:solidFill>
                  <a:srgbClr val="323237"/>
                </a:solidFill>
                <a:latin typeface="Microsoft YaHei"/>
              </a:rPr>
              <a:t>• 查看并编辑当前关卡。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98664" y="539496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150" b="0">
                <a:solidFill>
                  <a:srgbClr val="323237"/>
                </a:solidFill>
                <a:latin typeface="Microsoft YaHei"/>
              </a:rPr>
              <a:t>• 放置地面、墙、水、玩家、箱子、目标等元素。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16DA578F-D8BC-0980-EBB6-4E95AE4B1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143000"/>
            <a:ext cx="1833911" cy="3282593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4D82F9B8-1D53-605B-8E4F-426AB4994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9192" y="1472184"/>
            <a:ext cx="4562500" cy="2890208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E82EF1CE-85B3-CBAD-779C-4E07503AE2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0689" y="15505"/>
            <a:ext cx="3141021" cy="449248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B0CC00-AADE-1076-4C88-DDB8BA910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25758D-0FD5-6F4E-6FDD-E2351A0B4E21}"/>
              </a:ext>
            </a:extLst>
          </p:cNvPr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445978-EA42-015C-6726-D70A939108ED}"/>
              </a:ext>
            </a:extLst>
          </p:cNvPr>
          <p:cNvSpPr txBox="1"/>
          <p:nvPr/>
        </p:nvSpPr>
        <p:spPr>
          <a:xfrm>
            <a:off x="411480" y="164592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400" b="1">
                <a:solidFill>
                  <a:srgbClr val="243040"/>
                </a:solidFill>
                <a:latin typeface="Microsoft YaHei"/>
              </a:rPr>
              <a:t>5. 共创界面怎么用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785102-3B9E-2CE9-6897-A1855B6C110B}"/>
              </a:ext>
            </a:extLst>
          </p:cNvPr>
          <p:cNvSpPr txBox="1"/>
          <p:nvPr/>
        </p:nvSpPr>
        <p:spPr>
          <a:xfrm>
            <a:off x="438912" y="65836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100" b="0">
                <a:solidFill>
                  <a:srgbClr val="5C626B"/>
                </a:solidFill>
                <a:latin typeface="Microsoft YaHei"/>
              </a:rPr>
              <a:t>看懂三个核心区域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218A22B-3D22-D9EB-FB9F-3C1C369C2B19}"/>
              </a:ext>
            </a:extLst>
          </p:cNvPr>
          <p:cNvSpPr/>
          <p:nvPr/>
        </p:nvSpPr>
        <p:spPr>
          <a:xfrm>
            <a:off x="515112" y="4283964"/>
            <a:ext cx="4754880" cy="1600200"/>
          </a:xfrm>
          <a:prstGeom prst="roundRect">
            <a:avLst/>
          </a:prstGeom>
          <a:solidFill>
            <a:srgbClr val="F6F7FA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601B1BD-5825-004F-8B20-07C3299CCBAD}"/>
              </a:ext>
            </a:extLst>
          </p:cNvPr>
          <p:cNvSpPr/>
          <p:nvPr/>
        </p:nvSpPr>
        <p:spPr>
          <a:xfrm>
            <a:off x="588264" y="4357116"/>
            <a:ext cx="4608576" cy="365760"/>
          </a:xfrm>
          <a:prstGeom prst="roundRect">
            <a:avLst/>
          </a:prstGeom>
          <a:solidFill>
            <a:srgbClr val="2A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CEADBA-1D08-531E-2C3D-4B3E28726A4E}"/>
              </a:ext>
            </a:extLst>
          </p:cNvPr>
          <p:cNvSpPr txBox="1"/>
          <p:nvPr/>
        </p:nvSpPr>
        <p:spPr>
          <a:xfrm>
            <a:off x="652272" y="4375404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共创对话区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CB3180-8C74-674A-D06F-3C379A2C866A}"/>
              </a:ext>
            </a:extLst>
          </p:cNvPr>
          <p:cNvSpPr txBox="1"/>
          <p:nvPr/>
        </p:nvSpPr>
        <p:spPr>
          <a:xfrm>
            <a:off x="661416" y="4796028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150" b="0">
                <a:solidFill>
                  <a:srgbClr val="323237"/>
                </a:solidFill>
                <a:latin typeface="Microsoft YaHei"/>
              </a:rPr>
              <a:t>• </a:t>
            </a:r>
            <a:r>
              <a:rPr sz="1150" b="0" err="1">
                <a:solidFill>
                  <a:srgbClr val="323237"/>
                </a:solidFill>
                <a:latin typeface="Microsoft YaHei"/>
              </a:rPr>
              <a:t>描述想法、表达不满意之处</a:t>
            </a:r>
            <a:r>
              <a:rPr sz="1150" b="0">
                <a:solidFill>
                  <a:srgbClr val="323237"/>
                </a:solidFill>
                <a:latin typeface="Microsoft YaHei"/>
              </a:rPr>
              <a:t>。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9C2C18-176C-C5BD-E6B9-9D1F6A0B128F}"/>
              </a:ext>
            </a:extLst>
          </p:cNvPr>
          <p:cNvSpPr txBox="1"/>
          <p:nvPr/>
        </p:nvSpPr>
        <p:spPr>
          <a:xfrm>
            <a:off x="661416" y="5106924"/>
            <a:ext cx="4782312" cy="279564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r>
              <a:rPr sz="1150" b="0">
                <a:solidFill>
                  <a:srgbClr val="323237"/>
                </a:solidFill>
                <a:latin typeface="Microsoft YaHei"/>
              </a:rPr>
              <a:t>• 让 </a:t>
            </a:r>
            <a:r>
              <a:rPr sz="1150" b="0">
                <a:solidFill>
                  <a:srgbClr val="3232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 </a:t>
            </a:r>
            <a:r>
              <a:rPr sz="1150" b="0" err="1">
                <a:solidFill>
                  <a:srgbClr val="3232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帮你分析、建议、继续修改</a:t>
            </a:r>
            <a:r>
              <a:rPr lang="en-US" sz="1150" b="0">
                <a:solidFill>
                  <a:srgbClr val="3232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150" b="0">
                <a:solidFill>
                  <a:srgbClr val="3232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150" b="0">
                <a:solidFill>
                  <a:srgbClr val="3232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的修改能力比较差</a:t>
            </a:r>
            <a:r>
              <a:rPr lang="en-US" altLang="zh-CN" sz="1150" b="0">
                <a:solidFill>
                  <a:srgbClr val="3232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150" b="0">
                <a:solidFill>
                  <a:srgbClr val="3232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建议手动修改</a:t>
            </a:r>
            <a:r>
              <a:rPr lang="en-US" altLang="zh-CN" sz="1150" b="0">
                <a:solidFill>
                  <a:srgbClr val="323237"/>
                </a:solidFill>
                <a:latin typeface="Microsoft YaHei"/>
              </a:rPr>
              <a:t>)</a:t>
            </a:r>
            <a:r>
              <a:rPr lang="zh-CN" altLang="en-US" sz="1150">
                <a:solidFill>
                  <a:srgbClr val="323237"/>
                </a:solidFill>
                <a:latin typeface="Microsoft YaHei"/>
              </a:rPr>
              <a:t> 。</a:t>
            </a:r>
            <a:endParaRPr sz="1150" b="0">
              <a:solidFill>
                <a:srgbClr val="323237"/>
              </a:solidFill>
              <a:latin typeface="Microsoft YaHei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899C1CAD-3381-B5FB-3414-081CF90DB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992" y="1097280"/>
            <a:ext cx="4562500" cy="289020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1CCBE75-EAA4-CDA6-4268-37084D2AD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661" y="1123058"/>
            <a:ext cx="3621420" cy="854989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86A009E6-2456-4382-C5D7-1E973CAF6E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6661" y="2379025"/>
            <a:ext cx="3641075" cy="756715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EF55B202-8B9C-4E13-1D2A-1D0AF864FB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1230" y="3494642"/>
            <a:ext cx="3616506" cy="2412642"/>
          </a:xfrm>
          <a:prstGeom prst="rect">
            <a:avLst/>
          </a:prstGeom>
        </p:spPr>
      </p:pic>
      <p:cxnSp>
        <p:nvCxnSpPr>
          <p:cNvPr id="29" name="Connector 9">
            <a:extLst>
              <a:ext uri="{FF2B5EF4-FFF2-40B4-BE49-F238E27FC236}">
                <a16:creationId xmlns:a16="http://schemas.microsoft.com/office/drawing/2014/main" id="{89C9646B-6C3E-EB8C-CEA0-E83B26611FA4}"/>
              </a:ext>
            </a:extLst>
          </p:cNvPr>
          <p:cNvCxnSpPr>
            <a:cxnSpLocks/>
            <a:stCxn id="35" idx="2"/>
          </p:cNvCxnSpPr>
          <p:nvPr/>
        </p:nvCxnSpPr>
        <p:spPr>
          <a:xfrm flipH="1">
            <a:off x="9216887" y="1038267"/>
            <a:ext cx="842199" cy="646074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13">
            <a:extLst>
              <a:ext uri="{FF2B5EF4-FFF2-40B4-BE49-F238E27FC236}">
                <a16:creationId xmlns:a16="http://schemas.microsoft.com/office/drawing/2014/main" id="{F321D8FC-FE1E-6120-0FA6-6CFADE17B88F}"/>
              </a:ext>
            </a:extLst>
          </p:cNvPr>
          <p:cNvSpPr/>
          <p:nvPr/>
        </p:nvSpPr>
        <p:spPr>
          <a:xfrm>
            <a:off x="8713304" y="535347"/>
            <a:ext cx="2691564" cy="50292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en-US" altLang="zh-CN" sz="1200" b="1">
                <a:solidFill>
                  <a:srgbClr val="4C4222"/>
                </a:solidFill>
                <a:latin typeface="Microsoft YaHei"/>
              </a:rPr>
              <a:t>AI</a:t>
            </a:r>
            <a:r>
              <a:rPr lang="zh-CN" altLang="en-US" sz="1200" b="1">
                <a:solidFill>
                  <a:srgbClr val="4C4222"/>
                </a:solidFill>
                <a:latin typeface="Microsoft YaHei"/>
              </a:rPr>
              <a:t>提出自己的想法或者询问细节</a:t>
            </a:r>
            <a:endParaRPr sz="1200" b="1">
              <a:solidFill>
                <a:srgbClr val="4C4222"/>
              </a:solidFill>
              <a:latin typeface="Microsoft YaHei"/>
            </a:endParaRPr>
          </a:p>
        </p:txBody>
      </p:sp>
      <p:sp>
        <p:nvSpPr>
          <p:cNvPr id="40" name="Rounded Rectangle 13">
            <a:extLst>
              <a:ext uri="{FF2B5EF4-FFF2-40B4-BE49-F238E27FC236}">
                <a16:creationId xmlns:a16="http://schemas.microsoft.com/office/drawing/2014/main" id="{CED6B48F-AD80-EDBF-5B32-0E4E78BF766D}"/>
              </a:ext>
            </a:extLst>
          </p:cNvPr>
          <p:cNvSpPr/>
          <p:nvPr/>
        </p:nvSpPr>
        <p:spPr>
          <a:xfrm>
            <a:off x="854765" y="3353564"/>
            <a:ext cx="3631096" cy="50292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en-US" altLang="zh-CN" sz="1200" b="1">
                <a:solidFill>
                  <a:srgbClr val="4C4222"/>
                </a:solidFill>
                <a:latin typeface="Microsoft YaHei"/>
              </a:rPr>
              <a:t>AI</a:t>
            </a:r>
            <a:r>
              <a:rPr lang="zh-CN" altLang="en-US" sz="1200" b="1">
                <a:solidFill>
                  <a:srgbClr val="4C4222"/>
                </a:solidFill>
                <a:latin typeface="Microsoft YaHei"/>
              </a:rPr>
              <a:t>对话过程中会出现五类卡片</a:t>
            </a:r>
            <a:r>
              <a:rPr lang="en-US" altLang="zh-CN" sz="1200" b="1">
                <a:solidFill>
                  <a:srgbClr val="4C4222"/>
                </a:solidFill>
                <a:latin typeface="Microsoft YaHei"/>
              </a:rPr>
              <a:t>(</a:t>
            </a:r>
            <a:r>
              <a:rPr lang="zh-CN" altLang="en-US" sz="1200" b="1">
                <a:solidFill>
                  <a:srgbClr val="4C4222"/>
                </a:solidFill>
                <a:latin typeface="Microsoft YaHei"/>
              </a:rPr>
              <a:t>第五种为报错</a:t>
            </a:r>
            <a:r>
              <a:rPr lang="en-US" altLang="zh-CN" sz="1200" b="1">
                <a:solidFill>
                  <a:srgbClr val="4C4222"/>
                </a:solidFill>
                <a:latin typeface="Microsoft YaHei"/>
              </a:rPr>
              <a:t>)</a:t>
            </a:r>
            <a:endParaRPr sz="1200" b="1">
              <a:solidFill>
                <a:srgbClr val="4C4222"/>
              </a:solidFill>
              <a:latin typeface="Microsoft YaHei"/>
            </a:endParaRPr>
          </a:p>
        </p:txBody>
      </p:sp>
      <p:cxnSp>
        <p:nvCxnSpPr>
          <p:cNvPr id="41" name="Connector 9">
            <a:extLst>
              <a:ext uri="{FF2B5EF4-FFF2-40B4-BE49-F238E27FC236}">
                <a16:creationId xmlns:a16="http://schemas.microsoft.com/office/drawing/2014/main" id="{A16FDCB9-6211-9E65-5170-D64B7A73670C}"/>
              </a:ext>
            </a:extLst>
          </p:cNvPr>
          <p:cNvCxnSpPr>
            <a:cxnSpLocks/>
          </p:cNvCxnSpPr>
          <p:nvPr/>
        </p:nvCxnSpPr>
        <p:spPr>
          <a:xfrm flipH="1">
            <a:off x="9216886" y="2505207"/>
            <a:ext cx="1398105" cy="341429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13">
            <a:extLst>
              <a:ext uri="{FF2B5EF4-FFF2-40B4-BE49-F238E27FC236}">
                <a16:creationId xmlns:a16="http://schemas.microsoft.com/office/drawing/2014/main" id="{2A4BCB3E-E6DD-C211-75A7-7A1D39A7BF60}"/>
              </a:ext>
            </a:extLst>
          </p:cNvPr>
          <p:cNvSpPr/>
          <p:nvPr/>
        </p:nvSpPr>
        <p:spPr>
          <a:xfrm>
            <a:off x="9395791" y="2002287"/>
            <a:ext cx="2691564" cy="50292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en-US" altLang="zh-CN" sz="1200" b="1">
                <a:solidFill>
                  <a:srgbClr val="4C4222"/>
                </a:solidFill>
                <a:latin typeface="Microsoft YaHei"/>
              </a:rPr>
              <a:t>AI</a:t>
            </a:r>
            <a:r>
              <a:rPr lang="zh-CN" altLang="en-US" sz="1200" b="1">
                <a:solidFill>
                  <a:srgbClr val="4C4222"/>
                </a:solidFill>
                <a:latin typeface="Microsoft YaHei"/>
              </a:rPr>
              <a:t>揣测你的修改意图</a:t>
            </a:r>
            <a:endParaRPr sz="1200" b="1">
              <a:solidFill>
                <a:srgbClr val="4C4222"/>
              </a:solidFill>
              <a:latin typeface="Microsoft YaHei"/>
            </a:endParaRPr>
          </a:p>
        </p:txBody>
      </p:sp>
      <p:cxnSp>
        <p:nvCxnSpPr>
          <p:cNvPr id="46" name="Connector 9">
            <a:extLst>
              <a:ext uri="{FF2B5EF4-FFF2-40B4-BE49-F238E27FC236}">
                <a16:creationId xmlns:a16="http://schemas.microsoft.com/office/drawing/2014/main" id="{D92F36FB-C8F7-35F3-BEA5-F40D2FD43879}"/>
              </a:ext>
            </a:extLst>
          </p:cNvPr>
          <p:cNvCxnSpPr>
            <a:cxnSpLocks/>
          </p:cNvCxnSpPr>
          <p:nvPr/>
        </p:nvCxnSpPr>
        <p:spPr>
          <a:xfrm flipH="1">
            <a:off x="9089921" y="3909391"/>
            <a:ext cx="1074496" cy="289317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13">
            <a:extLst>
              <a:ext uri="{FF2B5EF4-FFF2-40B4-BE49-F238E27FC236}">
                <a16:creationId xmlns:a16="http://schemas.microsoft.com/office/drawing/2014/main" id="{4E7FD107-1BCE-0FAA-3A77-B51CF4F22A76}"/>
              </a:ext>
            </a:extLst>
          </p:cNvPr>
          <p:cNvSpPr/>
          <p:nvPr/>
        </p:nvSpPr>
        <p:spPr>
          <a:xfrm>
            <a:off x="9395791" y="3401287"/>
            <a:ext cx="2691564" cy="50292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en-US" altLang="zh-CN" sz="1200" b="1">
                <a:solidFill>
                  <a:srgbClr val="4C4222"/>
                </a:solidFill>
                <a:latin typeface="Microsoft YaHei"/>
              </a:rPr>
              <a:t>AI</a:t>
            </a:r>
            <a:r>
              <a:rPr lang="zh-CN" altLang="en-US" sz="1200" b="1">
                <a:solidFill>
                  <a:srgbClr val="4C4222"/>
                </a:solidFill>
                <a:latin typeface="Microsoft YaHei"/>
              </a:rPr>
              <a:t>帮助你进行更改</a:t>
            </a:r>
            <a:endParaRPr sz="1200" b="1">
              <a:solidFill>
                <a:srgbClr val="4C4222"/>
              </a:solidFill>
              <a:latin typeface="Microsoft YaHei"/>
            </a:endParaRPr>
          </a:p>
        </p:txBody>
      </p:sp>
      <p:cxnSp>
        <p:nvCxnSpPr>
          <p:cNvPr id="50" name="Connector 9">
            <a:extLst>
              <a:ext uri="{FF2B5EF4-FFF2-40B4-BE49-F238E27FC236}">
                <a16:creationId xmlns:a16="http://schemas.microsoft.com/office/drawing/2014/main" id="{4A118BD2-5E9B-0B43-17A6-6EAA0722FD04}"/>
              </a:ext>
            </a:extLst>
          </p:cNvPr>
          <p:cNvCxnSpPr>
            <a:cxnSpLocks/>
          </p:cNvCxnSpPr>
          <p:nvPr/>
        </p:nvCxnSpPr>
        <p:spPr>
          <a:xfrm flipH="1">
            <a:off x="9089921" y="5005411"/>
            <a:ext cx="1074496" cy="289317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13">
            <a:extLst>
              <a:ext uri="{FF2B5EF4-FFF2-40B4-BE49-F238E27FC236}">
                <a16:creationId xmlns:a16="http://schemas.microsoft.com/office/drawing/2014/main" id="{E81432C0-9A1D-AA3B-F06D-2B187E8689A4}"/>
              </a:ext>
            </a:extLst>
          </p:cNvPr>
          <p:cNvSpPr/>
          <p:nvPr/>
        </p:nvSpPr>
        <p:spPr>
          <a:xfrm>
            <a:off x="9395791" y="4512813"/>
            <a:ext cx="2691564" cy="50292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zh-CN" altLang="en-US" sz="1200" b="1">
                <a:solidFill>
                  <a:srgbClr val="4C4222"/>
                </a:solidFill>
                <a:latin typeface="Microsoft YaHei"/>
              </a:rPr>
              <a:t>自己实行更改</a:t>
            </a:r>
            <a:r>
              <a:rPr lang="en-US" altLang="zh-CN" sz="1200" b="1">
                <a:solidFill>
                  <a:srgbClr val="4C4222"/>
                </a:solidFill>
                <a:latin typeface="Microsoft YaHei"/>
              </a:rPr>
              <a:t>(</a:t>
            </a:r>
            <a:r>
              <a:rPr lang="zh-CN" altLang="en-US" sz="1200" b="1">
                <a:solidFill>
                  <a:srgbClr val="4C4222"/>
                </a:solidFill>
                <a:latin typeface="Microsoft YaHei"/>
              </a:rPr>
              <a:t>推荐</a:t>
            </a:r>
            <a:r>
              <a:rPr lang="en-US" altLang="zh-CN" sz="1200" b="1">
                <a:solidFill>
                  <a:srgbClr val="4C4222"/>
                </a:solidFill>
                <a:latin typeface="Microsoft YaHei"/>
              </a:rPr>
              <a:t>)</a:t>
            </a:r>
            <a:endParaRPr sz="1200" b="1">
              <a:solidFill>
                <a:srgbClr val="4C4222"/>
              </a:solidFill>
              <a:latin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93522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56A31B-F839-4882-2A14-7F366767C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052B94-12A8-6E51-7956-B9460A41AB78}"/>
              </a:ext>
            </a:extLst>
          </p:cNvPr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959F32-CC58-05BA-E43D-E8E6CF4D71CF}"/>
              </a:ext>
            </a:extLst>
          </p:cNvPr>
          <p:cNvSpPr txBox="1"/>
          <p:nvPr/>
        </p:nvSpPr>
        <p:spPr>
          <a:xfrm>
            <a:off x="411480" y="164592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400" b="1">
                <a:solidFill>
                  <a:srgbClr val="243040"/>
                </a:solidFill>
                <a:latin typeface="Microsoft YaHei"/>
              </a:rPr>
              <a:t>5. 共创界面怎么用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6262FB-9FD4-6DC1-F978-A23B04829435}"/>
              </a:ext>
            </a:extLst>
          </p:cNvPr>
          <p:cNvSpPr txBox="1"/>
          <p:nvPr/>
        </p:nvSpPr>
        <p:spPr>
          <a:xfrm>
            <a:off x="438912" y="65836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100" b="0">
                <a:solidFill>
                  <a:srgbClr val="5C626B"/>
                </a:solidFill>
                <a:latin typeface="Microsoft YaHei"/>
              </a:rPr>
              <a:t>看懂三个核心区域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888502F-0D14-2D04-C7F4-6B401C89AC43}"/>
              </a:ext>
            </a:extLst>
          </p:cNvPr>
          <p:cNvSpPr/>
          <p:nvPr/>
        </p:nvSpPr>
        <p:spPr>
          <a:xfrm>
            <a:off x="4033299" y="998485"/>
            <a:ext cx="4297680" cy="1600200"/>
          </a:xfrm>
          <a:prstGeom prst="roundRect">
            <a:avLst/>
          </a:prstGeom>
          <a:solidFill>
            <a:srgbClr val="F6F7FA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9B24794-F820-F4AB-01DE-7DCC99C00B30}"/>
              </a:ext>
            </a:extLst>
          </p:cNvPr>
          <p:cNvSpPr/>
          <p:nvPr/>
        </p:nvSpPr>
        <p:spPr>
          <a:xfrm>
            <a:off x="4106451" y="1071637"/>
            <a:ext cx="4151376" cy="365760"/>
          </a:xfrm>
          <a:prstGeom prst="roundRect">
            <a:avLst/>
          </a:prstGeom>
          <a:solidFill>
            <a:srgbClr val="548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D9A97C-1E87-CAEA-8276-67873A7F6071}"/>
              </a:ext>
            </a:extLst>
          </p:cNvPr>
          <p:cNvSpPr txBox="1"/>
          <p:nvPr/>
        </p:nvSpPr>
        <p:spPr>
          <a:xfrm>
            <a:off x="4170459" y="1089925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400" b="1" err="1">
                <a:solidFill>
                  <a:srgbClr val="FFFFFF"/>
                </a:solidFill>
                <a:latin typeface="Microsoft YaHei"/>
              </a:rPr>
              <a:t>地图编辑区</a:t>
            </a:r>
            <a:endParaRPr sz="1400" b="1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D64DF7-2622-2755-F9AE-ABDE436A4453}"/>
              </a:ext>
            </a:extLst>
          </p:cNvPr>
          <p:cNvSpPr txBox="1"/>
          <p:nvPr/>
        </p:nvSpPr>
        <p:spPr>
          <a:xfrm>
            <a:off x="4179603" y="1510549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150" b="0">
                <a:solidFill>
                  <a:srgbClr val="323237"/>
                </a:solidFill>
                <a:latin typeface="Microsoft YaHei"/>
              </a:rPr>
              <a:t>• 查看并编辑当前关卡。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473FC2-E7A0-A547-692B-D12B96C87655}"/>
              </a:ext>
            </a:extLst>
          </p:cNvPr>
          <p:cNvSpPr txBox="1"/>
          <p:nvPr/>
        </p:nvSpPr>
        <p:spPr>
          <a:xfrm>
            <a:off x="4179603" y="1821445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150" b="0">
                <a:solidFill>
                  <a:srgbClr val="323237"/>
                </a:solidFill>
                <a:latin typeface="Microsoft YaHei"/>
              </a:rPr>
              <a:t>• 放置地面、墙、水、玩家、箱子、目标等元素。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597D05DB-7320-FA75-20C0-9495B08F7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112" y="978408"/>
            <a:ext cx="3141021" cy="4492487"/>
          </a:xfrm>
          <a:prstGeom prst="rect">
            <a:avLst/>
          </a:prstGeom>
        </p:spPr>
      </p:pic>
      <p:cxnSp>
        <p:nvCxnSpPr>
          <p:cNvPr id="5" name="Connector 14">
            <a:extLst>
              <a:ext uri="{FF2B5EF4-FFF2-40B4-BE49-F238E27FC236}">
                <a16:creationId xmlns:a16="http://schemas.microsoft.com/office/drawing/2014/main" id="{16BA3444-E7F3-5DAA-D051-319ED778E6C1}"/>
              </a:ext>
            </a:extLst>
          </p:cNvPr>
          <p:cNvCxnSpPr>
            <a:cxnSpLocks/>
          </p:cNvCxnSpPr>
          <p:nvPr/>
        </p:nvCxnSpPr>
        <p:spPr>
          <a:xfrm flipH="1">
            <a:off x="3564835" y="3103129"/>
            <a:ext cx="1828800" cy="468332"/>
          </a:xfrm>
          <a:prstGeom prst="line">
            <a:avLst/>
          </a:prstGeom>
          <a:ln w="38100">
            <a:solidFill>
              <a:srgbClr val="60A0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13">
            <a:extLst>
              <a:ext uri="{FF2B5EF4-FFF2-40B4-BE49-F238E27FC236}">
                <a16:creationId xmlns:a16="http://schemas.microsoft.com/office/drawing/2014/main" id="{60FB5EB5-AAD6-CF53-0A57-DA3A0859C888}"/>
              </a:ext>
            </a:extLst>
          </p:cNvPr>
          <p:cNvSpPr/>
          <p:nvPr/>
        </p:nvSpPr>
        <p:spPr>
          <a:xfrm>
            <a:off x="5393635" y="2851669"/>
            <a:ext cx="1828800" cy="502920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zh-CN" altLang="en-US" sz="1200" b="1">
                <a:solidFill>
                  <a:srgbClr val="4C4222"/>
                </a:solidFill>
                <a:latin typeface="Microsoft YaHei"/>
              </a:rPr>
              <a:t>可选择的覆盖瓦片</a:t>
            </a:r>
            <a:endParaRPr sz="1200" b="1">
              <a:solidFill>
                <a:srgbClr val="4C4222"/>
              </a:solidFill>
              <a:latin typeface="Microsoft YaHei"/>
            </a:endParaRPr>
          </a:p>
        </p:txBody>
      </p:sp>
      <p:cxnSp>
        <p:nvCxnSpPr>
          <p:cNvPr id="29" name="Connector 14">
            <a:extLst>
              <a:ext uri="{FF2B5EF4-FFF2-40B4-BE49-F238E27FC236}">
                <a16:creationId xmlns:a16="http://schemas.microsoft.com/office/drawing/2014/main" id="{CB565600-9967-F254-0861-B49592F7BAAC}"/>
              </a:ext>
            </a:extLst>
          </p:cNvPr>
          <p:cNvCxnSpPr>
            <a:cxnSpLocks/>
          </p:cNvCxnSpPr>
          <p:nvPr/>
        </p:nvCxnSpPr>
        <p:spPr>
          <a:xfrm flipH="1" flipV="1">
            <a:off x="2643809" y="2851669"/>
            <a:ext cx="1590261" cy="1682496"/>
          </a:xfrm>
          <a:prstGeom prst="line">
            <a:avLst/>
          </a:prstGeom>
          <a:ln w="38100">
            <a:solidFill>
              <a:srgbClr val="60A0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13">
            <a:extLst>
              <a:ext uri="{FF2B5EF4-FFF2-40B4-BE49-F238E27FC236}">
                <a16:creationId xmlns:a16="http://schemas.microsoft.com/office/drawing/2014/main" id="{5AC4A305-C111-790E-1647-7A7A15F52CE8}"/>
              </a:ext>
            </a:extLst>
          </p:cNvPr>
          <p:cNvSpPr/>
          <p:nvPr/>
        </p:nvSpPr>
        <p:spPr>
          <a:xfrm>
            <a:off x="4234070" y="4294267"/>
            <a:ext cx="4777408" cy="502920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zh-CN" altLang="en-US" sz="1200" b="1">
                <a:solidFill>
                  <a:srgbClr val="4C4222"/>
                </a:solidFill>
                <a:latin typeface="Microsoft YaHei"/>
              </a:rPr>
              <a:t>先选择你要覆盖的瓦片作为画笔</a:t>
            </a:r>
            <a:r>
              <a:rPr lang="en-US" altLang="zh-CN" sz="1200" b="1">
                <a:solidFill>
                  <a:srgbClr val="4C4222"/>
                </a:solidFill>
                <a:latin typeface="Microsoft YaHei"/>
              </a:rPr>
              <a:t>,</a:t>
            </a:r>
            <a:r>
              <a:rPr lang="zh-CN" altLang="en-US" sz="1200" b="1">
                <a:solidFill>
                  <a:srgbClr val="4C4222"/>
                </a:solidFill>
                <a:latin typeface="Microsoft YaHei"/>
              </a:rPr>
              <a:t>之后在图中直接点击选中替换瓦片</a:t>
            </a:r>
            <a:endParaRPr sz="1200" b="1">
              <a:solidFill>
                <a:srgbClr val="4C4222"/>
              </a:solidFill>
              <a:latin typeface="Microsoft YaHei"/>
            </a:endParaRPr>
          </a:p>
        </p:txBody>
      </p:sp>
      <p:cxnSp>
        <p:nvCxnSpPr>
          <p:cNvPr id="36" name="Connector 14">
            <a:extLst>
              <a:ext uri="{FF2B5EF4-FFF2-40B4-BE49-F238E27FC236}">
                <a16:creationId xmlns:a16="http://schemas.microsoft.com/office/drawing/2014/main" id="{3DECA6B4-F934-6232-9415-612F3B6D9CCC}"/>
              </a:ext>
            </a:extLst>
          </p:cNvPr>
          <p:cNvCxnSpPr>
            <a:cxnSpLocks/>
          </p:cNvCxnSpPr>
          <p:nvPr/>
        </p:nvCxnSpPr>
        <p:spPr>
          <a:xfrm flipH="1" flipV="1">
            <a:off x="1974574" y="4461808"/>
            <a:ext cx="2131877" cy="1009087"/>
          </a:xfrm>
          <a:prstGeom prst="line">
            <a:avLst/>
          </a:prstGeom>
          <a:ln w="38100">
            <a:solidFill>
              <a:srgbClr val="60A0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13">
            <a:extLst>
              <a:ext uri="{FF2B5EF4-FFF2-40B4-BE49-F238E27FC236}">
                <a16:creationId xmlns:a16="http://schemas.microsoft.com/office/drawing/2014/main" id="{C82EED22-5EDE-77B8-A843-8B4B72643DD7}"/>
              </a:ext>
            </a:extLst>
          </p:cNvPr>
          <p:cNvSpPr/>
          <p:nvPr/>
        </p:nvSpPr>
        <p:spPr>
          <a:xfrm>
            <a:off x="4064706" y="5192467"/>
            <a:ext cx="4266273" cy="502920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zh-CN" altLang="en-US" sz="1200" b="1">
                <a:solidFill>
                  <a:srgbClr val="4C4222"/>
                </a:solidFill>
                <a:latin typeface="Microsoft YaHei"/>
              </a:rPr>
              <a:t>修改完以后点击保存为新的</a:t>
            </a:r>
            <a:r>
              <a:rPr lang="en-US" altLang="zh-CN" sz="1200" b="1">
                <a:solidFill>
                  <a:srgbClr val="4C4222"/>
                </a:solidFill>
                <a:latin typeface="Microsoft YaHei"/>
              </a:rPr>
              <a:t>STAGE</a:t>
            </a:r>
            <a:r>
              <a:rPr lang="zh-CN" altLang="en-US" sz="1200" b="1">
                <a:solidFill>
                  <a:srgbClr val="4C4222"/>
                </a:solidFill>
                <a:latin typeface="Microsoft YaHei"/>
              </a:rPr>
              <a:t>然后进入关卡可解性检验</a:t>
            </a:r>
            <a:endParaRPr sz="1200" b="1">
              <a:solidFill>
                <a:srgbClr val="4C4222"/>
              </a:solidFill>
              <a:latin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817282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400" b="1">
                <a:solidFill>
                  <a:srgbClr val="243040"/>
                </a:solidFill>
                <a:latin typeface="Microsoft YaHei"/>
              </a:rPr>
              <a:t>6. 试玩、验证与确认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5836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100" b="0">
                <a:solidFill>
                  <a:srgbClr val="5C626B"/>
                </a:solidFill>
                <a:latin typeface="Microsoft YaHei"/>
              </a:rPr>
              <a:t>在确认前，请尽量自己体验和检查关卡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251960"/>
            <a:ext cx="2926080" cy="1325880"/>
          </a:xfrm>
          <a:prstGeom prst="roundRect">
            <a:avLst/>
          </a:prstGeom>
          <a:solidFill>
            <a:srgbClr val="F9F9FB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" y="4325112"/>
            <a:ext cx="2779776" cy="365760"/>
          </a:xfrm>
          <a:prstGeom prst="roundRect">
            <a:avLst/>
          </a:prstGeom>
          <a:solidFill>
            <a:srgbClr val="24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434340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试玩当前 Stage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764024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150" b="0">
                <a:solidFill>
                  <a:srgbClr val="323237"/>
                </a:solidFill>
                <a:latin typeface="Microsoft YaHei"/>
              </a:rPr>
              <a:t>• 点击“试玩这个 STAGE”。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507492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150" b="0">
                <a:solidFill>
                  <a:srgbClr val="323237"/>
                </a:solidFill>
                <a:latin typeface="Microsoft YaHei"/>
              </a:rPr>
              <a:t>• 试玩自己设计的关卡时，你操控的是狐狸。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12463" y="4251960"/>
            <a:ext cx="4434840" cy="1600200"/>
          </a:xfrm>
          <a:prstGeom prst="roundRect">
            <a:avLst/>
          </a:prstGeom>
          <a:solidFill>
            <a:srgbClr val="F9F9FB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785615" y="4325112"/>
            <a:ext cx="4288536" cy="365760"/>
          </a:xfrm>
          <a:prstGeom prst="roundRect">
            <a:avLst/>
          </a:prstGeom>
          <a:solidFill>
            <a:srgbClr val="548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49623" y="4343400"/>
            <a:ext cx="416052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验证与保存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8767" y="4764024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150" b="0">
                <a:solidFill>
                  <a:srgbClr val="323237"/>
                </a:solidFill>
                <a:latin typeface="Microsoft YaHei"/>
              </a:rPr>
              <a:t>• 系统会显示关卡是否可解。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8767" y="5074920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150" b="0">
                <a:solidFill>
                  <a:srgbClr val="323237"/>
                </a:solidFill>
                <a:latin typeface="Microsoft YaHei"/>
              </a:rPr>
              <a:t>• 可查看步数、推箱次数等信息。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8767" y="5385816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150" b="0">
                <a:solidFill>
                  <a:srgbClr val="323237"/>
                </a:solidFill>
                <a:latin typeface="Microsoft YaHei"/>
              </a:rPr>
              <a:t>• 满意后可保存为新 Stage。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4251960"/>
            <a:ext cx="3154680" cy="1600200"/>
          </a:xfrm>
          <a:prstGeom prst="roundRect">
            <a:avLst/>
          </a:prstGeom>
          <a:solidFill>
            <a:srgbClr val="F9F9FB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302752" y="4325112"/>
            <a:ext cx="3008376" cy="365760"/>
          </a:xfrm>
          <a:prstGeom prst="roundRect">
            <a:avLst/>
          </a:prstGeom>
          <a:solidFill>
            <a:srgbClr val="ED7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66760" y="4343400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确认最终关卡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5904" y="4764024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150" b="0">
                <a:solidFill>
                  <a:srgbClr val="323237"/>
                </a:solidFill>
                <a:latin typeface="Microsoft YaHei"/>
              </a:rPr>
              <a:t>• 点击“确认最终 STAGE”。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5904" y="5074920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150" b="0">
                <a:solidFill>
                  <a:srgbClr val="323237"/>
                </a:solidFill>
                <a:latin typeface="Microsoft YaHei"/>
              </a:rPr>
              <a:t>• 确认后会冻结编辑，并进入下一步记录设计意图。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A2E1DDB8-7D61-3436-CA90-B34CEEE57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446" y="1472184"/>
            <a:ext cx="3303791" cy="2625529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BD004C4C-06C0-498D-8EB8-E3B85C7DFD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8924" y="2914918"/>
            <a:ext cx="3306706" cy="1142236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D4E37B53-846D-CF0C-D83F-D1BBA3A5AE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1" y="2953083"/>
            <a:ext cx="3303792" cy="105241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400" b="1">
                <a:solidFill>
                  <a:srgbClr val="243040"/>
                </a:solidFill>
                <a:latin typeface="Microsoft YaHei"/>
              </a:rPr>
              <a:t>7. 游玩对手的关卡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5836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100" b="0">
                <a:solidFill>
                  <a:srgbClr val="5C626B"/>
                </a:solidFill>
                <a:latin typeface="Microsoft YaHei"/>
              </a:rPr>
              <a:t>双方提交后，你将进入对手设计的关卡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3657600" cy="4297680"/>
          </a:xfrm>
          <a:prstGeom prst="roundRect">
            <a:avLst/>
          </a:prstGeom>
          <a:solidFill>
            <a:srgbClr val="F8F8FA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67512" y="1307592"/>
            <a:ext cx="3511296" cy="365760"/>
          </a:xfrm>
          <a:prstGeom prst="roundRect">
            <a:avLst/>
          </a:prstGeom>
          <a:solidFill>
            <a:srgbClr val="45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挑战规则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1746504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150" b="0">
                <a:solidFill>
                  <a:srgbClr val="323237"/>
                </a:solidFill>
                <a:latin typeface="Microsoft YaHei"/>
              </a:rPr>
              <a:t>• 你将游玩另一位玩家设计的关卡。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205740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150" b="0">
                <a:solidFill>
                  <a:srgbClr val="323237"/>
                </a:solidFill>
                <a:latin typeface="Microsoft YaHei"/>
              </a:rPr>
              <a:t>• 此时可操控角色是青蛙。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2368296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150" b="0">
                <a:solidFill>
                  <a:srgbClr val="323237"/>
                </a:solidFill>
                <a:latin typeface="Microsoft YaHei"/>
              </a:rPr>
              <a:t>• 使用方向键 ↑ ↓ ← → 移动。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2679192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150" b="0">
                <a:solidFill>
                  <a:srgbClr val="323237"/>
                </a:solidFill>
                <a:latin typeface="Microsoft YaHei"/>
              </a:rPr>
              <a:t>• 本阶段限时 30 秒。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2990088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150" b="0">
                <a:solidFill>
                  <a:srgbClr val="323237"/>
                </a:solidFill>
                <a:latin typeface="Microsoft YaHei"/>
              </a:rPr>
              <a:t>• 目标仍然是把箱子推到目标点。</a:t>
            </a:r>
          </a:p>
        </p:txBody>
      </p:sp>
      <p:pic>
        <p:nvPicPr>
          <p:cNvPr id="13" name="Picture 12" descr="fr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08760"/>
            <a:ext cx="1280160" cy="9349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26280" y="288036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  <a:latin typeface="Microsoft YaHei"/>
              </a:rPr>
              <a:t>青蛙 = 对手关卡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1783080"/>
            <a:ext cx="59436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D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40880" y="1819656"/>
            <a:ext cx="59436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1800" b="1">
                <a:solidFill>
                  <a:srgbClr val="5A5C69"/>
                </a:solidFill>
                <a:latin typeface="Microsoft YaHei"/>
              </a:rPr>
              <a:t>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606040"/>
            <a:ext cx="59436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D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2642616"/>
            <a:ext cx="59436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1800" b="1">
                <a:solidFill>
                  <a:srgbClr val="5A5C69"/>
                </a:solidFill>
                <a:latin typeface="Microsoft YaHei"/>
              </a:rPr>
              <a:t>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2606040"/>
            <a:ext cx="59436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D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40880" y="2642616"/>
            <a:ext cx="59436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1800" b="1">
                <a:solidFill>
                  <a:srgbClr val="5A5C69"/>
                </a:solidFill>
                <a:latin typeface="Microsoft YaHei"/>
              </a:rP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0" y="2606040"/>
            <a:ext cx="59436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D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80960" y="2642616"/>
            <a:ext cx="59436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1800" b="1">
                <a:solidFill>
                  <a:srgbClr val="5A5C69"/>
                </a:solidFill>
                <a:latin typeface="Microsoft YaHe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2011680"/>
            <a:ext cx="2560320" cy="960120"/>
          </a:xfrm>
          <a:prstGeom prst="roundRect">
            <a:avLst/>
          </a:prstGeom>
          <a:solidFill>
            <a:srgbClr val="FFEDE6"/>
          </a:solidFill>
          <a:ln>
            <a:solidFill>
              <a:srgbClr val="E19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4C4222"/>
                </a:solidFill>
                <a:latin typeface="Microsoft YaHei"/>
              </a:rPr>
              <a:t>重要：
30 秒内尽力完成对手关卡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400" b="1">
                <a:solidFill>
                  <a:srgbClr val="243040"/>
                </a:solidFill>
                <a:latin typeface="Microsoft YaHei"/>
              </a:rPr>
              <a:t>8. 完整流程回顾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5836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100" b="0">
                <a:solidFill>
                  <a:srgbClr val="5C626B"/>
                </a:solidFill>
                <a:latin typeface="Microsoft YaHei"/>
              </a:rPr>
              <a:t>开始前请再看一遍整体顺序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143000"/>
            <a:ext cx="10561320" cy="566928"/>
          </a:xfrm>
          <a:prstGeom prst="roundRect">
            <a:avLst/>
          </a:prstGeom>
          <a:solidFill>
            <a:srgbClr val="EBF5FF"/>
          </a:solidFill>
          <a:ln>
            <a:solidFill>
              <a:srgbClr val="70A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4C4222"/>
                </a:solidFill>
                <a:latin typeface="Microsoft YaHei"/>
              </a:rPr>
              <a:t>1. 在主菜单连接 Server，点击 Matchmaking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01368"/>
            <a:ext cx="10561320" cy="566928"/>
          </a:xfrm>
          <a:prstGeom prst="roundRect">
            <a:avLst/>
          </a:prstGeom>
          <a:solidFill>
            <a:srgbClr val="FFF2E6"/>
          </a:solidFill>
          <a:ln>
            <a:solidFill>
              <a:srgbClr val="E69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4C4222"/>
                </a:solidFill>
                <a:latin typeface="Microsoft YaHei"/>
              </a:rPr>
              <a:t>2. 一位玩家创建房间码，另一位输入房间码加入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459736"/>
            <a:ext cx="10561320" cy="566928"/>
          </a:xfrm>
          <a:prstGeom prst="roundRect">
            <a:avLst/>
          </a:prstGeom>
          <a:solidFill>
            <a:srgbClr val="EFF8EF"/>
          </a:solidFill>
          <a:ln>
            <a:solidFill>
              <a:srgbClr val="7EB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4C4222"/>
                </a:solidFill>
                <a:latin typeface="Microsoft YaHei"/>
              </a:rPr>
              <a:t>3. 进入共创地图，与 AI 讨论并修改 Stage（10 分钟）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18104"/>
            <a:ext cx="10561320" cy="566928"/>
          </a:xfrm>
          <a:prstGeom prst="roundRect">
            <a:avLst/>
          </a:prstGeom>
          <a:solidFill>
            <a:srgbClr val="EBF5FF"/>
          </a:solidFill>
          <a:ln>
            <a:solidFill>
              <a:srgbClr val="70A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4C4222"/>
                </a:solidFill>
                <a:latin typeface="Microsoft YaHei"/>
              </a:rPr>
              <a:t>4. 试玩自己设计的关卡（狐狸 / WASD），检查是否满意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776472"/>
            <a:ext cx="10561320" cy="566928"/>
          </a:xfrm>
          <a:prstGeom prst="roundRect">
            <a:avLst/>
          </a:prstGeom>
          <a:solidFill>
            <a:srgbClr val="FFF2E6"/>
          </a:solidFill>
          <a:ln>
            <a:solidFill>
              <a:srgbClr val="E69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4C4222"/>
                </a:solidFill>
                <a:latin typeface="Microsoft YaHei"/>
              </a:rPr>
              <a:t>5. 查看可解性验证，保存新 Stage，并确认最终 STAGE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434840"/>
            <a:ext cx="10561320" cy="566928"/>
          </a:xfrm>
          <a:prstGeom prst="roundRect">
            <a:avLst/>
          </a:prstGeom>
          <a:solidFill>
            <a:srgbClr val="EFF8EF"/>
          </a:solidFill>
          <a:ln>
            <a:solidFill>
              <a:srgbClr val="7EB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4C4222"/>
                </a:solidFill>
                <a:latin typeface="Microsoft YaHei"/>
              </a:rPr>
              <a:t>6. 双方提交后，交换关卡并游玩对手关卡（青蛙 / 方向键 / 30 秒）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093207"/>
            <a:ext cx="10561320" cy="566928"/>
          </a:xfrm>
          <a:prstGeom prst="roundRect">
            <a:avLst/>
          </a:prstGeom>
          <a:solidFill>
            <a:srgbClr val="EBF5FF"/>
          </a:solidFill>
          <a:ln>
            <a:solidFill>
              <a:srgbClr val="70A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4C4222"/>
                </a:solidFill>
                <a:latin typeface="Microsoft YaHei"/>
              </a:rPr>
              <a:t>7. </a:t>
            </a:r>
            <a:r>
              <a:rPr sz="1300" b="1" err="1">
                <a:solidFill>
                  <a:srgbClr val="4C4222"/>
                </a:solidFill>
                <a:latin typeface="Microsoft YaHei"/>
              </a:rPr>
              <a:t>完成记录与结果页面</a:t>
            </a:r>
            <a:endParaRPr sz="1300" b="1">
              <a:solidFill>
                <a:srgbClr val="4C4222"/>
              </a:solidFill>
              <a:latin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194560" y="617220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1400" b="1">
                <a:solidFill>
                  <a:srgbClr val="365071"/>
                </a:solidFill>
                <a:latin typeface="Microsoft YaHei"/>
              </a:rPr>
              <a:t>祝你和队友顺利完成共创，并在挑战中获得有趣的体验！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602</Words>
  <Application>Microsoft Office PowerPoint</Application>
  <PresentationFormat>宽屏</PresentationFormat>
  <Paragraphs>107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Microsoft YaHei</vt:lpstr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金丞 朱</cp:lastModifiedBy>
  <cp:revision>18</cp:revision>
  <dcterms:created xsi:type="dcterms:W3CDTF">2013-01-27T09:14:16Z</dcterms:created>
  <dcterms:modified xsi:type="dcterms:W3CDTF">2026-08-20T09:18:01Z</dcterms:modified>
  <cp:category/>
</cp:coreProperties>
</file>